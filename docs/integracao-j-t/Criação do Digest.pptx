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3"/>
  </p:notesMasterIdLst>
  <p:sldIdLst>
    <p:sldId id="311" r:id="rId3"/>
    <p:sldId id="318" r:id="rId4"/>
    <p:sldId id="319" r:id="rId5"/>
    <p:sldId id="345" r:id="rId6"/>
    <p:sldId id="346" r:id="rId7"/>
    <p:sldId id="347" r:id="rId8"/>
    <p:sldId id="348" r:id="rId9"/>
    <p:sldId id="349" r:id="rId10"/>
    <p:sldId id="343" r:id="rId11"/>
    <p:sldId id="326" r:id="rId12"/>
  </p:sldIdLst>
  <p:sldSz cx="12192000" cy="6858000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SemiBold" panose="00000700000000000000" pitchFamily="2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00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86497" y="-48663"/>
            <a:ext cx="12278497" cy="69078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8"/>
          <p:cNvSpPr txBox="1">
            <a:spLocks noGrp="1"/>
          </p:cNvSpPr>
          <p:nvPr>
            <p:ph type="body" idx="1"/>
          </p:nvPr>
        </p:nvSpPr>
        <p:spPr>
          <a:xfrm>
            <a:off x="232757" y="2477655"/>
            <a:ext cx="11729258" cy="5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 panose="020B0604020202020204"/>
              <a:buNone/>
              <a:defRPr sz="4000" b="1" i="0" u="none" strike="noStrike" cap="none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body" idx="2"/>
          </p:nvPr>
        </p:nvSpPr>
        <p:spPr>
          <a:xfrm>
            <a:off x="3128169" y="6046586"/>
            <a:ext cx="5935662" cy="31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27171"/>
              </a:buClr>
              <a:buSzPts val="1800"/>
              <a:buFont typeface="Arial" panose="020B0604020202020204"/>
              <a:buNone/>
              <a:defRPr sz="1800" b="0" i="1" u="none" strike="noStrike" cap="none">
                <a:solidFill>
                  <a:srgbClr val="727171"/>
                </a:solidFill>
                <a:latin typeface="Montserrat SemiBold" panose="00000700000000000000"/>
                <a:ea typeface="Montserrat SemiBold" panose="00000700000000000000"/>
                <a:cs typeface="Montserrat SemiBold" panose="00000700000000000000"/>
                <a:sym typeface="Montserrat SemiBold" panose="000007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52187"/>
            <a:ext cx="12282616" cy="691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440574" y="453273"/>
            <a:ext cx="7653102" cy="41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665018" y="1554884"/>
            <a:ext cx="11105803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86497" y="-48663"/>
            <a:ext cx="12278497" cy="69078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8"/>
          <p:cNvSpPr txBox="1">
            <a:spLocks noGrp="1"/>
          </p:cNvSpPr>
          <p:nvPr>
            <p:ph type="body" idx="1"/>
          </p:nvPr>
        </p:nvSpPr>
        <p:spPr>
          <a:xfrm>
            <a:off x="232757" y="2477655"/>
            <a:ext cx="11729258" cy="5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 panose="020B0604020202020204"/>
              <a:buNone/>
              <a:defRPr sz="4000" b="1" i="0" u="none" strike="noStrike" cap="none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body" idx="2"/>
          </p:nvPr>
        </p:nvSpPr>
        <p:spPr>
          <a:xfrm>
            <a:off x="3128169" y="6046586"/>
            <a:ext cx="5935662" cy="31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27171"/>
              </a:buClr>
              <a:buSzPts val="1800"/>
              <a:buFont typeface="Arial" panose="020B0604020202020204"/>
              <a:buNone/>
              <a:defRPr sz="1800" b="0" i="1" u="none" strike="noStrike" cap="none">
                <a:solidFill>
                  <a:srgbClr val="727171"/>
                </a:solidFill>
                <a:latin typeface="Montserrat SemiBold" panose="00000700000000000000"/>
                <a:ea typeface="Montserrat SemiBold" panose="00000700000000000000"/>
                <a:cs typeface="Montserrat SemiBold" panose="00000700000000000000"/>
                <a:sym typeface="Montserrat SemiBold" panose="000007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304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>
  <p:cSld name="Somente Títul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35925" y="-98853"/>
            <a:ext cx="12443255" cy="700056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110550" y="2747819"/>
            <a:ext cx="3970900" cy="68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60013"/>
              </a:buClr>
              <a:buSzPts val="5600"/>
              <a:buFont typeface="Arial" panose="020B0604020202020204"/>
              <a:buNone/>
              <a:defRPr sz="5600" b="1" i="0" u="none" strike="noStrike" cap="none">
                <a:solidFill>
                  <a:srgbClr val="E6001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89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52187"/>
            <a:ext cx="12282616" cy="691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440574" y="453273"/>
            <a:ext cx="7653102" cy="41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665018" y="1554884"/>
            <a:ext cx="11105803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139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5629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jtjms-br.com/#/helpCente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4devs.com.br/codificar_md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.jtjms-br.com/#/apiDoc/orderserve/comCostAndTim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jtjms-br.com/#/apiDoc/index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i.hq.integracao@jtexpress.com.br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en-US" dirty="0"/>
              <a:t>Criação do </a:t>
            </a:r>
            <a:r>
              <a:rPr lang="pt-BR" altLang="en-US" dirty="0" err="1"/>
              <a:t>digest</a:t>
            </a:r>
            <a:r>
              <a:rPr lang="pt-BR" altLang="en-US" dirty="0"/>
              <a:t> – Business </a:t>
            </a:r>
            <a:r>
              <a:rPr lang="pt-BR" altLang="en-US" dirty="0" err="1"/>
              <a:t>and</a:t>
            </a:r>
            <a:r>
              <a:rPr lang="pt-BR" altLang="en-US" dirty="0"/>
              <a:t> Header </a:t>
            </a:r>
            <a:r>
              <a:rPr lang="pt-BR" altLang="en-US" dirty="0" err="1"/>
              <a:t>Signature</a:t>
            </a:r>
            <a:endParaRPr lang="pt-BR" alt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231831" y="5822179"/>
            <a:ext cx="4397182" cy="312651"/>
          </a:xfrm>
        </p:spPr>
        <p:txBody>
          <a:bodyPr/>
          <a:lstStyle/>
          <a:p>
            <a:r>
              <a:rPr lang="pt-BR" altLang="en-US" sz="1600" b="1" dirty="0"/>
              <a:t>08/02/2024</a:t>
            </a:r>
          </a:p>
          <a:p>
            <a:r>
              <a:rPr lang="pt-BR" altLang="en-US" sz="1600" b="1" dirty="0"/>
              <a:t>Feito por Thiago C. Lopes – IT HQ (Customer &amp; System </a:t>
            </a:r>
            <a:r>
              <a:rPr lang="pt-BR" altLang="en-US" sz="1600" b="1" dirty="0" err="1"/>
              <a:t>Integration</a:t>
            </a:r>
            <a:r>
              <a:rPr lang="pt-BR" altLang="en-US" sz="1600" b="1" dirty="0"/>
              <a:t>)</a:t>
            </a: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CD49AE78-9114-2181-919D-5E2F90DF5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513" y="5196865"/>
            <a:ext cx="2478157" cy="15564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DF5743-8969-222E-BF2F-78137772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98" y="767556"/>
            <a:ext cx="742950" cy="276225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3EEDAA-9242-798B-7DC0-8B5D32C4B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653" y="80411"/>
            <a:ext cx="8138729" cy="419563"/>
          </a:xfrm>
        </p:spPr>
        <p:txBody>
          <a:bodyPr/>
          <a:lstStyle/>
          <a:p>
            <a:r>
              <a:rPr lang="pt-BR" dirty="0"/>
              <a:t>Desmistificando a geração de um </a:t>
            </a:r>
            <a:r>
              <a:rPr lang="pt-BR" dirty="0" err="1"/>
              <a:t>digest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B47D1F-F38E-1319-6335-DCAE1B713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564" y="1404730"/>
            <a:ext cx="6465284" cy="50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5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555E635-212A-1EA0-3214-24DA3CEA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DB9949-1A67-F8CD-41AF-DC26D5B3B0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58729" y="1528380"/>
            <a:ext cx="9503254" cy="3467690"/>
          </a:xfrm>
        </p:spPr>
        <p:txBody>
          <a:bodyPr/>
          <a:lstStyle/>
          <a:p>
            <a:r>
              <a:rPr lang="pt-BR" sz="2400" dirty="0">
                <a:latin typeface="Montserrat" panose="00000500000000000000" pitchFamily="2" charset="0"/>
              </a:rPr>
              <a:t>Para efetuar a chamada de qualquer método de nossa API, é necessário criar assinaturas criptografadas para o corpo da requisição (</a:t>
            </a:r>
            <a:r>
              <a:rPr lang="pt-BR" sz="2400" b="1" dirty="0">
                <a:latin typeface="Montserrat" panose="00000500000000000000" pitchFamily="2" charset="0"/>
              </a:rPr>
              <a:t>Body</a:t>
            </a:r>
            <a:r>
              <a:rPr lang="pt-BR" sz="2400" dirty="0">
                <a:latin typeface="Montserrat" panose="00000500000000000000" pitchFamily="2" charset="0"/>
              </a:rPr>
              <a:t>) e para o cabeçalho (</a:t>
            </a:r>
            <a:r>
              <a:rPr lang="pt-BR" sz="2400" b="1" dirty="0">
                <a:latin typeface="Montserrat" panose="00000500000000000000" pitchFamily="2" charset="0"/>
              </a:rPr>
              <a:t>Header</a:t>
            </a:r>
            <a:r>
              <a:rPr lang="pt-BR" sz="2400" dirty="0">
                <a:latin typeface="Montserrat" panose="00000500000000000000" pitchFamily="2" charset="0"/>
              </a:rPr>
              <a:t>). Chamaremos esta assinatura de </a:t>
            </a:r>
            <a:r>
              <a:rPr lang="pt-BR" sz="2400" i="1" u="sng" dirty="0" err="1">
                <a:latin typeface="Montserrat" panose="00000500000000000000" pitchFamily="2" charset="0"/>
              </a:rPr>
              <a:t>digest</a:t>
            </a:r>
            <a:r>
              <a:rPr lang="pt-BR" sz="2400" dirty="0">
                <a:latin typeface="Montserrat" panose="00000500000000000000" pitchFamily="2" charset="0"/>
              </a:rPr>
              <a:t> e para cria-las, utilizaremos as credenciais informadas previamente pela transportadora: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Customer Code: J0086024974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Montserrat" panose="00000500000000000000" pitchFamily="2" charset="0"/>
              </a:rPr>
              <a:t>Senha</a:t>
            </a:r>
            <a:r>
              <a:rPr lang="en-US" sz="2400" dirty="0">
                <a:latin typeface="Montserrat" panose="00000500000000000000" pitchFamily="2" charset="0"/>
              </a:rPr>
              <a:t>: P1C55T21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Test </a:t>
            </a:r>
            <a:r>
              <a:rPr lang="en-US" sz="2400" dirty="0" err="1">
                <a:latin typeface="Montserrat" panose="00000500000000000000" pitchFamily="2" charset="0"/>
              </a:rPr>
              <a:t>apiAccount</a:t>
            </a:r>
            <a:r>
              <a:rPr lang="en-US" sz="2400" dirty="0">
                <a:latin typeface="Montserrat" panose="00000500000000000000" pitchFamily="2" charset="0"/>
              </a:rPr>
              <a:t>: 292508153084379141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Test </a:t>
            </a:r>
            <a:r>
              <a:rPr lang="en-US" sz="2400" dirty="0" err="1">
                <a:latin typeface="Montserrat" panose="00000500000000000000" pitchFamily="2" charset="0"/>
              </a:rPr>
              <a:t>privateKey</a:t>
            </a:r>
            <a:r>
              <a:rPr lang="en-US" sz="2400" dirty="0">
                <a:latin typeface="Montserrat" panose="00000500000000000000" pitchFamily="2" charset="0"/>
              </a:rPr>
              <a:t>: a0a1047cce70493c9d5d29704f05d0d9</a:t>
            </a:r>
            <a:endParaRPr lang="pt-BR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37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A151-4890-EED5-3182-2E934276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6B9F48E-50FC-E82B-D97E-3DDC6C234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A4DFB4-22D3-2F85-03F6-B8B73DB13B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4660" y="1183824"/>
            <a:ext cx="9039428" cy="1875736"/>
          </a:xfrm>
        </p:spPr>
        <p:txBody>
          <a:bodyPr/>
          <a:lstStyle/>
          <a:p>
            <a:pPr algn="ctr"/>
            <a:r>
              <a:rPr lang="pt-BR" sz="1400" dirty="0">
                <a:latin typeface="Montserrat" panose="00000500000000000000" pitchFamily="2" charset="0"/>
              </a:rPr>
              <a:t>Na seção </a:t>
            </a:r>
            <a:r>
              <a:rPr lang="pt-BR" sz="1400" b="1" dirty="0">
                <a:latin typeface="Montserrat" panose="00000500000000000000" pitchFamily="2" charset="0"/>
              </a:rPr>
              <a:t>Help Center </a:t>
            </a:r>
            <a:r>
              <a:rPr lang="pt-BR" sz="1400" dirty="0">
                <a:latin typeface="Montserrat" panose="00000500000000000000" pitchFamily="2" charset="0"/>
              </a:rPr>
              <a:t>de nossa documentação é possível se aprofundar com detalhes sobre o tipo de codificação, formato de dados a serem enviados, entre outros tópicos. Neste material, focaremos na criação do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 para o corpo e cabeçalho da requisição, de uma forma simplificada.</a:t>
            </a:r>
          </a:p>
          <a:p>
            <a:pPr algn="ctr"/>
            <a:endParaRPr lang="pt-BR" sz="1400" dirty="0">
              <a:latin typeface="Montserrat" panose="00000500000000000000" pitchFamily="2" charset="0"/>
            </a:endParaRP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Na mesma seção, disponibilizamos uma ferramenta automatizada que fará a combinação dos parâmetros necessários e irá gerar cada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3DA1E3-2869-E79A-4B4F-96103CB5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83" y="3193774"/>
            <a:ext cx="4768514" cy="3436731"/>
          </a:xfrm>
          <a:prstGeom prst="rect">
            <a:avLst/>
          </a:prstGeom>
        </p:spPr>
      </p:pic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96CFD2A5-C82C-4C3A-B9EB-FF31122ED977}"/>
              </a:ext>
            </a:extLst>
          </p:cNvPr>
          <p:cNvSpPr txBox="1">
            <a:spLocks/>
          </p:cNvSpPr>
          <p:nvPr/>
        </p:nvSpPr>
        <p:spPr>
          <a:xfrm>
            <a:off x="117825" y="4754769"/>
            <a:ext cx="6256470" cy="187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sz="1400" dirty="0">
                <a:latin typeface="Montserrat" panose="00000500000000000000" pitchFamily="2" charset="0"/>
              </a:rPr>
              <a:t>Link da documentação: </a:t>
            </a:r>
            <a:r>
              <a:rPr lang="pt-BR" sz="1400" dirty="0">
                <a:latin typeface="Montserrat" panose="00000500000000000000" pitchFamily="2" charset="0"/>
                <a:hlinkClick r:id="rId3"/>
              </a:rPr>
              <a:t>https://open.jtjms-br.com/#/helpCenter</a:t>
            </a:r>
            <a:r>
              <a:rPr lang="pt-BR" sz="1400" dirty="0">
                <a:latin typeface="Montserrat" panose="00000500000000000000" pitchFamily="2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87101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A855-DF8D-E6A4-C7F2-FAD31ACA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26C63D3-19BB-9BC5-18E0-A4CAF9AE6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Business </a:t>
            </a:r>
            <a:r>
              <a:rPr lang="pt-BR" dirty="0" err="1"/>
              <a:t>Signature</a:t>
            </a:r>
            <a:r>
              <a:rPr lang="pt-BR" dirty="0"/>
              <a:t> </a:t>
            </a:r>
            <a:r>
              <a:rPr lang="pt-BR" dirty="0" err="1"/>
              <a:t>Parameter</a:t>
            </a:r>
            <a:r>
              <a:rPr lang="pt-BR" dirty="0"/>
              <a:t> (</a:t>
            </a:r>
            <a:r>
              <a:rPr lang="pt-BR" dirty="0" err="1"/>
              <a:t>Digest</a:t>
            </a:r>
            <a:r>
              <a:rPr lang="pt-BR" dirty="0"/>
              <a:t>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4CA089-35F0-1931-473F-354B6720F7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912" y="1104311"/>
            <a:ext cx="9039428" cy="1875736"/>
          </a:xfrm>
        </p:spPr>
        <p:txBody>
          <a:bodyPr/>
          <a:lstStyle/>
          <a:p>
            <a:pPr algn="ctr"/>
            <a:r>
              <a:rPr lang="pt-BR" sz="1400" dirty="0">
                <a:latin typeface="Montserrat" panose="00000500000000000000" pitchFamily="2" charset="0"/>
              </a:rPr>
              <a:t>Para a criação do primeiro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, utilizaremos uma combinação do </a:t>
            </a:r>
            <a:r>
              <a:rPr lang="pt-BR" sz="1400" b="1" dirty="0">
                <a:latin typeface="Montserrat" panose="00000500000000000000" pitchFamily="2" charset="0"/>
              </a:rPr>
              <a:t>Customer </a:t>
            </a:r>
            <a:r>
              <a:rPr lang="pt-BR" sz="1400" b="1" dirty="0" err="1">
                <a:latin typeface="Montserrat" panose="00000500000000000000" pitchFamily="2" charset="0"/>
              </a:rPr>
              <a:t>Code</a:t>
            </a:r>
            <a:r>
              <a:rPr lang="pt-BR" sz="1400" dirty="0">
                <a:latin typeface="Montserrat" panose="00000500000000000000" pitchFamily="2" charset="0"/>
              </a:rPr>
              <a:t>, </a:t>
            </a:r>
            <a:r>
              <a:rPr lang="pt-BR" sz="1400" b="1" dirty="0">
                <a:latin typeface="Montserrat" panose="00000500000000000000" pitchFamily="2" charset="0"/>
              </a:rPr>
              <a:t>Senha</a:t>
            </a:r>
            <a:r>
              <a:rPr lang="pt-BR" sz="1400" dirty="0">
                <a:latin typeface="Montserrat" panose="00000500000000000000" pitchFamily="2" charset="0"/>
              </a:rPr>
              <a:t> e </a:t>
            </a:r>
            <a:r>
              <a:rPr lang="pt-BR" sz="1400" b="1" dirty="0">
                <a:latin typeface="Montserrat" panose="00000500000000000000" pitchFamily="2" charset="0"/>
              </a:rPr>
              <a:t>Private Key</a:t>
            </a:r>
            <a:r>
              <a:rPr lang="pt-BR" sz="1400" dirty="0">
                <a:latin typeface="Montserrat" panose="00000500000000000000" pitchFamily="2" charset="0"/>
              </a:rPr>
              <a:t>. O primeiro passo será converter a senha disponibilizada em um formato de criptografia MD5, utilizando a senha com o acréscimo da palavra chave </a:t>
            </a:r>
            <a:r>
              <a:rPr lang="pt-BR" sz="1400" b="1" dirty="0">
                <a:latin typeface="Montserrat" panose="00000500000000000000" pitchFamily="2" charset="0"/>
              </a:rPr>
              <a:t>jadada236t2</a:t>
            </a:r>
          </a:p>
          <a:p>
            <a:pPr algn="ctr"/>
            <a:endParaRPr lang="pt-BR" sz="1400" b="1" dirty="0">
              <a:latin typeface="Montserrat" panose="00000500000000000000" pitchFamily="2" charset="0"/>
            </a:endParaRP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Pesquisando pela web, existem diversos conversores para MD5 que podem ser utilizados e como base, usaremos o link </a:t>
            </a:r>
            <a:r>
              <a:rPr lang="pt-BR" sz="1400" dirty="0">
                <a:latin typeface="Montserrat" panose="00000500000000000000" pitchFamily="2" charset="0"/>
                <a:hlinkClick r:id="rId2"/>
              </a:rPr>
              <a:t>https://www.4devs.com.br/codificar_md5</a:t>
            </a:r>
            <a:endParaRPr lang="pt-BR" sz="1400" dirty="0">
              <a:latin typeface="Montserrat" panose="00000500000000000000" pitchFamily="2" charset="0"/>
            </a:endParaRP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9401CB7-B34B-C6E8-E614-23DFD94B091B}"/>
              </a:ext>
            </a:extLst>
          </p:cNvPr>
          <p:cNvSpPr txBox="1">
            <a:spLocks/>
          </p:cNvSpPr>
          <p:nvPr/>
        </p:nvSpPr>
        <p:spPr>
          <a:xfrm>
            <a:off x="7478886" y="3846167"/>
            <a:ext cx="4416908" cy="187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sz="1400" dirty="0">
                <a:latin typeface="Montserrat" panose="00000500000000000000" pitchFamily="2" charset="0"/>
              </a:rPr>
              <a:t>Com a combinação da senha à palavra chave, obtivemos a senha criptografada:</a:t>
            </a:r>
          </a:p>
          <a:p>
            <a:pPr algn="ctr"/>
            <a:r>
              <a:rPr lang="pt-BR" sz="1400" b="1" dirty="0">
                <a:latin typeface="Montserrat" panose="00000500000000000000" pitchFamily="2" charset="0"/>
              </a:rPr>
              <a:t>E50dbdee39e9b83803ae24472dde10c9</a:t>
            </a: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Após gerar essa senha, converta as letras minúsculas em MAIÚSCULAS, tendo como resultado final a senha</a:t>
            </a: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 </a:t>
            </a:r>
            <a:r>
              <a:rPr lang="pt-BR" sz="1400" b="1" dirty="0">
                <a:latin typeface="Montserrat" panose="00000500000000000000" pitchFamily="2" charset="0"/>
              </a:rPr>
              <a:t>E50DBDEE39E9B83803AE24472DDE10C9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68D1D65-1191-F5E5-1409-F70977E3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8" y="2822713"/>
            <a:ext cx="6908316" cy="392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7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8516-7B03-FE3E-4B5E-006C1B25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450C8C0-F513-1059-1FBD-A31113B00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Business </a:t>
            </a:r>
            <a:r>
              <a:rPr lang="pt-BR" dirty="0" err="1"/>
              <a:t>Signature</a:t>
            </a:r>
            <a:r>
              <a:rPr lang="pt-BR" dirty="0"/>
              <a:t> </a:t>
            </a:r>
            <a:r>
              <a:rPr lang="pt-BR" dirty="0" err="1"/>
              <a:t>Parameter</a:t>
            </a:r>
            <a:r>
              <a:rPr lang="pt-BR" dirty="0"/>
              <a:t> (</a:t>
            </a:r>
            <a:r>
              <a:rPr lang="pt-BR" dirty="0" err="1"/>
              <a:t>Digest</a:t>
            </a:r>
            <a:r>
              <a:rPr lang="pt-BR" dirty="0"/>
              <a:t>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D39C77-B79C-AB4D-9C51-3BE27CA455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912" y="1104311"/>
            <a:ext cx="9039428" cy="1135306"/>
          </a:xfrm>
        </p:spPr>
        <p:txBody>
          <a:bodyPr/>
          <a:lstStyle/>
          <a:p>
            <a:pPr algn="ctr"/>
            <a:r>
              <a:rPr lang="pt-BR" sz="1400" dirty="0">
                <a:latin typeface="Montserrat" panose="00000500000000000000" pitchFamily="2" charset="0"/>
              </a:rPr>
              <a:t>Na ferramenta disponibilizada em nossa documentação, utilizaremos o </a:t>
            </a:r>
            <a:r>
              <a:rPr lang="pt-BR" sz="1400" b="1" dirty="0">
                <a:latin typeface="Montserrat" panose="00000500000000000000" pitchFamily="2" charset="0"/>
              </a:rPr>
              <a:t>Customer </a:t>
            </a:r>
            <a:r>
              <a:rPr lang="pt-BR" sz="1400" b="1" dirty="0" err="1">
                <a:latin typeface="Montserrat" panose="00000500000000000000" pitchFamily="2" charset="0"/>
              </a:rPr>
              <a:t>Code</a:t>
            </a:r>
            <a:r>
              <a:rPr lang="pt-BR" sz="1400" dirty="0">
                <a:latin typeface="Montserrat" panose="00000500000000000000" pitchFamily="2" charset="0"/>
              </a:rPr>
              <a:t>, a senha </a:t>
            </a:r>
            <a:r>
              <a:rPr lang="pt-BR" sz="1400" b="1" dirty="0">
                <a:latin typeface="Montserrat" panose="00000500000000000000" pitchFamily="2" charset="0"/>
              </a:rPr>
              <a:t>E50DBDEE39E9B83803AE24472DDE10C9</a:t>
            </a:r>
            <a:r>
              <a:rPr lang="pt-BR" sz="1400" dirty="0">
                <a:latin typeface="Montserrat" panose="00000500000000000000" pitchFamily="2" charset="0"/>
              </a:rPr>
              <a:t> (outrora encriptada e convertida para MAIÚSCULO) e a </a:t>
            </a:r>
            <a:r>
              <a:rPr lang="pt-BR" sz="1400" b="1" dirty="0">
                <a:latin typeface="Montserrat" panose="00000500000000000000" pitchFamily="2" charset="0"/>
              </a:rPr>
              <a:t>Private Key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C1D420B-B76E-E243-2F17-C6BF45D89332}"/>
              </a:ext>
            </a:extLst>
          </p:cNvPr>
          <p:cNvSpPr txBox="1">
            <a:spLocks/>
          </p:cNvSpPr>
          <p:nvPr/>
        </p:nvSpPr>
        <p:spPr>
          <a:xfrm>
            <a:off x="8380709" y="1936919"/>
            <a:ext cx="3348140" cy="187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sz="1400" dirty="0">
                <a:latin typeface="Montserrat" panose="00000500000000000000" pitchFamily="2" charset="0"/>
              </a:rPr>
              <a:t>Combinando as 3 chaves citadas e clicando no botão ‘</a:t>
            </a:r>
            <a:r>
              <a:rPr lang="pt-BR" sz="1400" dirty="0" err="1">
                <a:latin typeface="Montserrat" panose="00000500000000000000" pitchFamily="2" charset="0"/>
              </a:rPr>
              <a:t>Get</a:t>
            </a:r>
            <a:r>
              <a:rPr lang="pt-BR" sz="1400" dirty="0">
                <a:latin typeface="Montserrat" panose="00000500000000000000" pitchFamily="2" charset="0"/>
              </a:rPr>
              <a:t>’, será calculado o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 correspondente</a:t>
            </a:r>
          </a:p>
          <a:p>
            <a:pPr algn="ctr"/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Jv+f6ZdAyVLz77p1r72iag==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999AA-07A5-D168-DA48-F61D5036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1" y="2171487"/>
            <a:ext cx="7653102" cy="4295574"/>
          </a:xfrm>
          <a:prstGeom prst="rect">
            <a:avLst/>
          </a:prstGeom>
        </p:spPr>
      </p:pic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503A479-6C3E-2001-6848-B6D7B6E53F07}"/>
              </a:ext>
            </a:extLst>
          </p:cNvPr>
          <p:cNvSpPr txBox="1">
            <a:spLocks/>
          </p:cNvSpPr>
          <p:nvPr/>
        </p:nvSpPr>
        <p:spPr>
          <a:xfrm>
            <a:off x="8064658" y="4318339"/>
            <a:ext cx="3980242" cy="187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sz="1400" b="1" dirty="0">
                <a:solidFill>
                  <a:srgbClr val="FF0000"/>
                </a:solidFill>
                <a:latin typeface="Montserrat" panose="00000500000000000000" pitchFamily="2" charset="0"/>
              </a:rPr>
              <a:t>Observação importante</a:t>
            </a:r>
            <a:r>
              <a:rPr lang="pt-BR" sz="1400" dirty="0">
                <a:latin typeface="Montserrat" panose="00000500000000000000" pitchFamily="2" charset="0"/>
              </a:rPr>
              <a:t>:</a:t>
            </a: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Esta assinatura que será utilizada no corpo da requisição (Body) é fixa, ou seja, assim que criada, não existe a necessidade de gerar novamente (a não ser que a senha e/ou a Private Key sejam alteradas por algum motivo). </a:t>
            </a:r>
          </a:p>
        </p:txBody>
      </p:sp>
    </p:spTree>
    <p:extLst>
      <p:ext uri="{BB962C8B-B14F-4D97-AF65-F5344CB8AC3E}">
        <p14:creationId xmlns:p14="http://schemas.microsoft.com/office/powerpoint/2010/main" val="167574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8F93-EFF1-8BAB-E09F-BA0F5B706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FF343B-4C0E-89D5-8A9D-0B495F9F2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Header </a:t>
            </a:r>
            <a:r>
              <a:rPr lang="pt-BR" dirty="0" err="1"/>
              <a:t>Signature</a:t>
            </a:r>
            <a:r>
              <a:rPr lang="pt-BR" dirty="0"/>
              <a:t> </a:t>
            </a:r>
            <a:r>
              <a:rPr lang="pt-BR" dirty="0" err="1"/>
              <a:t>Parameter</a:t>
            </a:r>
            <a:r>
              <a:rPr lang="pt-BR" dirty="0"/>
              <a:t> (</a:t>
            </a:r>
            <a:r>
              <a:rPr lang="pt-BR" dirty="0" err="1"/>
              <a:t>Digest</a:t>
            </a:r>
            <a:r>
              <a:rPr lang="pt-BR" dirty="0"/>
              <a:t>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CACD22-AF38-9E9D-BFF7-DE8D728ED1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912" y="1104311"/>
            <a:ext cx="9039428" cy="1875736"/>
          </a:xfrm>
        </p:spPr>
        <p:txBody>
          <a:bodyPr/>
          <a:lstStyle/>
          <a:p>
            <a:r>
              <a:rPr lang="pt-BR" sz="1400" dirty="0">
                <a:latin typeface="Montserrat" panose="00000500000000000000" pitchFamily="2" charset="0"/>
              </a:rPr>
              <a:t>Para gerar o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 atrelado ao cabeçalho da requisição, utilizaremos o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 gerado no processo inicial dentro da chamada de algum dos métodos de nossa API junto à Private Key utilizada no primeiro passo. Como exemplo, utilizaremos o método de consulta/cálculo de frete (</a:t>
            </a:r>
            <a:r>
              <a:rPr lang="pt-BR" sz="1400" b="1" dirty="0" err="1">
                <a:latin typeface="Montserrat" panose="00000500000000000000" pitchFamily="2" charset="0"/>
              </a:rPr>
              <a:t>Check</a:t>
            </a:r>
            <a:r>
              <a:rPr lang="pt-BR" sz="1400" b="1" dirty="0">
                <a:latin typeface="Montserrat" panose="00000500000000000000" pitchFamily="2" charset="0"/>
              </a:rPr>
              <a:t> </a:t>
            </a:r>
            <a:r>
              <a:rPr lang="pt-BR" sz="1400" b="1" dirty="0" err="1">
                <a:latin typeface="Montserrat" panose="00000500000000000000" pitchFamily="2" charset="0"/>
              </a:rPr>
              <a:t>freight</a:t>
            </a:r>
            <a:r>
              <a:rPr lang="pt-BR" sz="1400" b="1" dirty="0">
                <a:latin typeface="Montserrat" panose="00000500000000000000" pitchFamily="2" charset="0"/>
              </a:rPr>
              <a:t> &amp; deadline</a:t>
            </a:r>
            <a:r>
              <a:rPr lang="pt-BR" sz="1400" dirty="0">
                <a:latin typeface="Montserrat" panose="00000500000000000000" pitchFamily="2" charset="0"/>
              </a:rPr>
              <a:t>: </a:t>
            </a:r>
            <a:r>
              <a:rPr lang="pt-BR" sz="1400" dirty="0">
                <a:latin typeface="Montserrat" panose="00000500000000000000" pitchFamily="2" charset="0"/>
                <a:hlinkClick r:id="rId2"/>
              </a:rPr>
              <a:t>https://open.jtjms-br.com/#/apiDoc/orderserve/comCostAndTime</a:t>
            </a:r>
            <a:r>
              <a:rPr lang="pt-BR" sz="1400" dirty="0">
                <a:latin typeface="Montserrat" panose="00000500000000000000" pitchFamily="2" charset="0"/>
              </a:rPr>
              <a:t>) para o teste.</a:t>
            </a:r>
          </a:p>
          <a:p>
            <a:pPr algn="ctr"/>
            <a:endParaRPr lang="pt-BR" sz="1400" dirty="0">
              <a:latin typeface="Montserrat" panose="00000500000000000000" pitchFamily="2" charset="0"/>
            </a:endParaRPr>
          </a:p>
          <a:p>
            <a:r>
              <a:rPr lang="pt-BR" sz="1400" dirty="0">
                <a:latin typeface="Montserrat" panose="00000500000000000000" pitchFamily="2" charset="0"/>
              </a:rPr>
              <a:t>A estrutura do método seguirá o padrão abaixo: </a:t>
            </a:r>
          </a:p>
          <a:p>
            <a:pPr algn="ctr"/>
            <a:endParaRPr lang="pt-BR" sz="1400" b="1" dirty="0">
              <a:latin typeface="Montserrat" panose="00000500000000000000" pitchFamily="2" charset="0"/>
            </a:endParaRPr>
          </a:p>
          <a:p>
            <a:r>
              <a:rPr lang="pt-BR" sz="1400" b="1" dirty="0">
                <a:latin typeface="Montserrat" panose="00000500000000000000" pitchFamily="2" charset="0"/>
              </a:rPr>
              <a:t>{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"customerCode":"J0086024974",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Customer </a:t>
            </a:r>
            <a:r>
              <a:rPr lang="pt-BR" sz="1400" b="1" dirty="0" err="1">
                <a:highlight>
                  <a:srgbClr val="FFFF00"/>
                </a:highlight>
                <a:latin typeface="Montserrat" panose="00000500000000000000" pitchFamily="2" charset="0"/>
              </a:rPr>
              <a:t>Code</a:t>
            </a:r>
            <a:endParaRPr lang="pt-BR" sz="1400" b="1" dirty="0">
              <a:highlight>
                <a:srgbClr val="FFFF00"/>
              </a:highlight>
              <a:latin typeface="Montserrat" panose="00000500000000000000" pitchFamily="2" charset="0"/>
            </a:endParaRPr>
          </a:p>
          <a:p>
            <a:r>
              <a:rPr lang="pt-BR" sz="1400" b="1" dirty="0">
                <a:latin typeface="Montserrat" panose="00000500000000000000" pitchFamily="2" charset="0"/>
              </a:rPr>
              <a:t>   "destinationZipCode":"07862200",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CEP de destino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"digest":"Jv+f6ZdAyVLz77p1r72iag==", // </a:t>
            </a:r>
            <a:r>
              <a:rPr lang="pt-BR" sz="1400" b="1" dirty="0" err="1">
                <a:highlight>
                  <a:srgbClr val="FFFF00"/>
                </a:highlight>
                <a:latin typeface="Montserrat" panose="00000500000000000000" pitchFamily="2" charset="0"/>
              </a:rPr>
              <a:t>Digest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 (gerado anteriormente)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"goodsTypeCode":"bm000001",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Tipo do produto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</a:t>
            </a:r>
            <a:r>
              <a:rPr lang="pt-BR" sz="1400" b="1" dirty="0" err="1">
                <a:latin typeface="Montserrat" panose="00000500000000000000" pitchFamily="2" charset="0"/>
              </a:rPr>
              <a:t>productTypeCode</a:t>
            </a:r>
            <a:r>
              <a:rPr lang="pt-BR" sz="1400" b="1" dirty="0">
                <a:latin typeface="Montserrat" panose="00000500000000000000" pitchFamily="2" charset="0"/>
              </a:rPr>
              <a:t>":"EZ",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Código da operação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"insuredAmount":"49.00",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Valor total da Nota Fiscal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   "weight":"25“ // </a:t>
            </a:r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Peso Bruto</a:t>
            </a:r>
          </a:p>
          <a:p>
            <a:r>
              <a:rPr lang="pt-BR" sz="1400" b="1" dirty="0">
                <a:latin typeface="Montserrat" panose="00000500000000000000" pitchFamily="2" charset="0"/>
              </a:rPr>
              <a:t>}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DA6C15B3-6966-EF44-1244-6A01BE3A9E79}"/>
              </a:ext>
            </a:extLst>
          </p:cNvPr>
          <p:cNvSpPr txBox="1">
            <a:spLocks/>
          </p:cNvSpPr>
          <p:nvPr/>
        </p:nvSpPr>
        <p:spPr>
          <a:xfrm>
            <a:off x="8441634" y="3453589"/>
            <a:ext cx="3427655" cy="187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pt-BR" sz="1400" b="1" dirty="0">
                <a:latin typeface="Montserrat" panose="00000500000000000000" pitchFamily="2" charset="0"/>
              </a:rPr>
              <a:t>Observação</a:t>
            </a:r>
            <a:r>
              <a:rPr lang="pt-BR" sz="1400" dirty="0">
                <a:latin typeface="Montserrat" panose="00000500000000000000" pitchFamily="2" charset="0"/>
              </a:rPr>
              <a:t>: Para cada método, teremos uma estrutura de chamada diferente e com campos distintos.</a:t>
            </a:r>
            <a:br>
              <a:rPr lang="pt-BR" sz="1400" dirty="0">
                <a:latin typeface="Montserrat" panose="00000500000000000000" pitchFamily="2" charset="0"/>
              </a:rPr>
            </a:br>
            <a:br>
              <a:rPr lang="pt-BR" sz="1400" dirty="0">
                <a:latin typeface="Montserrat" panose="00000500000000000000" pitchFamily="2" charset="0"/>
              </a:rPr>
            </a:br>
            <a:r>
              <a:rPr lang="pt-BR" sz="1400" dirty="0">
                <a:latin typeface="Montserrat" panose="00000500000000000000" pitchFamily="2" charset="0"/>
              </a:rPr>
              <a:t>Consulte a documentação para maiores detalhes e conhecer cada método.</a:t>
            </a:r>
          </a:p>
        </p:txBody>
      </p:sp>
    </p:spTree>
    <p:extLst>
      <p:ext uri="{BB962C8B-B14F-4D97-AF65-F5344CB8AC3E}">
        <p14:creationId xmlns:p14="http://schemas.microsoft.com/office/powerpoint/2010/main" val="258897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1CBE-D26F-D2E1-9F81-61B299D5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368926-2AE8-210C-90D6-C006A8E2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Header </a:t>
            </a:r>
            <a:r>
              <a:rPr lang="pt-BR" dirty="0" err="1"/>
              <a:t>Signature</a:t>
            </a:r>
            <a:r>
              <a:rPr lang="pt-BR" dirty="0"/>
              <a:t> </a:t>
            </a:r>
            <a:r>
              <a:rPr lang="pt-BR" dirty="0" err="1"/>
              <a:t>Parameter</a:t>
            </a:r>
            <a:r>
              <a:rPr lang="pt-BR" dirty="0"/>
              <a:t> (</a:t>
            </a:r>
            <a:r>
              <a:rPr lang="pt-BR" dirty="0" err="1"/>
              <a:t>Digest</a:t>
            </a:r>
            <a:r>
              <a:rPr lang="pt-BR" dirty="0"/>
              <a:t>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EAAB9F-C2B6-BDEF-F5BD-23979CC34B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912" y="1104311"/>
            <a:ext cx="9039428" cy="591967"/>
          </a:xfrm>
        </p:spPr>
        <p:txBody>
          <a:bodyPr/>
          <a:lstStyle/>
          <a:p>
            <a:r>
              <a:rPr lang="pt-BR" sz="1400" dirty="0">
                <a:latin typeface="Montserrat" panose="00000500000000000000" pitchFamily="2" charset="0"/>
              </a:rPr>
              <a:t>Utilizando a mesma ferramenta e inserindo os dados citados, vamos obter o seguinte resultado: </a:t>
            </a:r>
          </a:p>
          <a:p>
            <a:r>
              <a:rPr lang="pt-BR" sz="1400" b="1" dirty="0">
                <a:highlight>
                  <a:srgbClr val="FFFF00"/>
                </a:highlight>
                <a:latin typeface="Montserrat" panose="00000500000000000000" pitchFamily="2" charset="0"/>
              </a:rPr>
              <a:t>ICaMhZscJqp31uK0vbtUjA==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7A39E807-58E1-83AA-4E31-4D41C7DAD418}"/>
              </a:ext>
            </a:extLst>
          </p:cNvPr>
          <p:cNvSpPr txBox="1">
            <a:spLocks/>
          </p:cNvSpPr>
          <p:nvPr/>
        </p:nvSpPr>
        <p:spPr>
          <a:xfrm>
            <a:off x="8116253" y="1696278"/>
            <a:ext cx="3895777" cy="198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sz="1400" b="1" dirty="0">
                <a:latin typeface="Montserrat" panose="00000500000000000000" pitchFamily="2" charset="0"/>
              </a:rPr>
              <a:t>Observação</a:t>
            </a:r>
            <a:r>
              <a:rPr lang="pt-BR" sz="1400" dirty="0">
                <a:latin typeface="Montserrat" panose="00000500000000000000" pitchFamily="2" charset="0"/>
              </a:rPr>
              <a:t>:</a:t>
            </a:r>
          </a:p>
          <a:p>
            <a:endParaRPr lang="pt-BR" sz="1400" dirty="0">
              <a:latin typeface="Montserrat" panose="00000500000000000000" pitchFamily="2" charset="0"/>
            </a:endParaRP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Para todos os métodos de nossa API, a assinatura do cabeçalho (Header) </a:t>
            </a:r>
            <a:r>
              <a:rPr lang="pt-BR" sz="1400" b="1" i="1" u="sng" dirty="0">
                <a:latin typeface="Montserrat" panose="00000500000000000000" pitchFamily="2" charset="0"/>
              </a:rPr>
              <a:t>deverá ser renovada</a:t>
            </a:r>
            <a:r>
              <a:rPr lang="pt-BR" sz="1400" dirty="0">
                <a:latin typeface="Montserrat" panose="00000500000000000000" pitchFamily="2" charset="0"/>
              </a:rPr>
              <a:t>, visto que a cada nova chamada, os dados serão diferentes e consequentemente, precisaremos repetir o processo de criação deste </a:t>
            </a:r>
            <a:r>
              <a:rPr lang="pt-BR" sz="1400" dirty="0" err="1">
                <a:latin typeface="Montserrat" panose="00000500000000000000" pitchFamily="2" charset="0"/>
              </a:rPr>
              <a:t>digest</a:t>
            </a:r>
            <a:r>
              <a:rPr lang="pt-BR" sz="1400" dirty="0">
                <a:latin typeface="Montserrat" panose="00000500000000000000" pitchFamily="2" charset="0"/>
              </a:rPr>
              <a:t>.</a:t>
            </a:r>
          </a:p>
          <a:p>
            <a:pPr algn="ctr"/>
            <a:endParaRPr lang="pt-BR" sz="1400" dirty="0">
              <a:latin typeface="Montserrat" panose="00000500000000000000" pitchFamily="2" charset="0"/>
            </a:endParaRPr>
          </a:p>
          <a:p>
            <a:pPr algn="ctr"/>
            <a:r>
              <a:rPr lang="pt-BR" sz="1400" dirty="0">
                <a:latin typeface="Montserrat" panose="00000500000000000000" pitchFamily="2" charset="0"/>
              </a:rPr>
              <a:t>Criamos este mecanismo automatizado como um facilitador para o entendimento do conceito, todavia, mostra-se necessário implementar regras dentro do código de cada aplicação para renovar a assinatura do Header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C6F976-7A0E-FB3A-03F1-290A1134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12" y="2038173"/>
            <a:ext cx="7522576" cy="446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6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555E635-212A-1EA0-3214-24DA3CEA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51" y="227495"/>
            <a:ext cx="7653102" cy="419563"/>
          </a:xfrm>
        </p:spPr>
        <p:txBody>
          <a:bodyPr/>
          <a:lstStyle/>
          <a:p>
            <a:r>
              <a:rPr lang="pt-BR" dirty="0"/>
              <a:t>Contato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025528F-682C-B928-924B-EF98B188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1" y="3114261"/>
            <a:ext cx="2855108" cy="3376394"/>
          </a:xfrm>
          <a:prstGeom prst="rect">
            <a:avLst/>
          </a:prstGeom>
        </p:spPr>
      </p:pic>
      <p:sp>
        <p:nvSpPr>
          <p:cNvPr id="4" name="Espaço Reservado para Texto 1">
            <a:extLst>
              <a:ext uri="{FF2B5EF4-FFF2-40B4-BE49-F238E27FC236}">
                <a16:creationId xmlns:a16="http://schemas.microsoft.com/office/drawing/2014/main" id="{B7EB4E14-8D2E-000A-A39D-CD459F116353}"/>
              </a:ext>
            </a:extLst>
          </p:cNvPr>
          <p:cNvSpPr txBox="1">
            <a:spLocks/>
          </p:cNvSpPr>
          <p:nvPr/>
        </p:nvSpPr>
        <p:spPr>
          <a:xfrm>
            <a:off x="-212710" y="1363485"/>
            <a:ext cx="8960983" cy="13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ctr"/>
            <a:r>
              <a:rPr lang="pt-BR" altLang="en-US" sz="1200" dirty="0"/>
              <a:t>Em caso de dúvidas, sempre recorra ao link oficial de nossa documentação:</a:t>
            </a:r>
          </a:p>
          <a:p>
            <a:pPr algn="ctr"/>
            <a:endParaRPr lang="pt-BR" altLang="en-US" sz="1200" dirty="0"/>
          </a:p>
          <a:p>
            <a:pPr algn="ctr"/>
            <a:r>
              <a:rPr lang="pt-BR" sz="1200" dirty="0">
                <a:hlinkClick r:id="rId3"/>
              </a:rPr>
              <a:t>https://open.jtjms-br.com/#/apiDoc/index</a:t>
            </a:r>
            <a:r>
              <a:rPr lang="pt-BR" sz="1200" dirty="0"/>
              <a:t> </a:t>
            </a:r>
          </a:p>
          <a:p>
            <a:pPr algn="ctr"/>
            <a:endParaRPr lang="pt-BR" altLang="en-US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F4440E-B3D3-802F-4C4C-6E49CE30D9B6}"/>
              </a:ext>
            </a:extLst>
          </p:cNvPr>
          <p:cNvSpPr txBox="1"/>
          <p:nvPr/>
        </p:nvSpPr>
        <p:spPr>
          <a:xfrm>
            <a:off x="743387" y="3648296"/>
            <a:ext cx="62249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sz="1800" b="1" dirty="0">
                <a:latin typeface="Montserrat" panose="00000500000000000000" pitchFamily="2" charset="0"/>
              </a:rPr>
              <a:t>Para as demais dúvidas sobre o processo de integração, encaminhe um e-mail para o contato abaixo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/>
                <a:sym typeface="Arial" panose="020B0604020202020204"/>
              </a:rPr>
              <a:t>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pt-BR" sz="1800" b="1" dirty="0">
              <a:latin typeface="Montserrat" panose="000005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sz="1800" dirty="0">
                <a:highlight>
                  <a:srgbClr val="FFFF00"/>
                </a:highlight>
                <a:latin typeface="Montserrat" panose="00000500000000000000" pitchFamily="2" charset="0"/>
                <a:hlinkClick r:id="rId4"/>
              </a:rPr>
              <a:t>ti.hq.integracao@jtexpress.com.br</a:t>
            </a:r>
            <a:r>
              <a:rPr lang="pt-BR" sz="1800" dirty="0">
                <a:highlight>
                  <a:srgbClr val="FFFF00"/>
                </a:highlight>
                <a:latin typeface="Montserrat" panose="00000500000000000000" pitchFamily="2" charset="0"/>
              </a:rPr>
              <a:t> </a:t>
            </a:r>
            <a:b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/>
                <a:sym typeface="Arial" panose="020B0604020202020204"/>
              </a:rPr>
            </a:br>
            <a:endParaRPr kumimoji="0" lang="pt-BR" sz="18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5720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ADA7A56-8416-C6CF-C84E-C212FA1C2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205" y="2353923"/>
            <a:ext cx="3970900" cy="681181"/>
          </a:xfrm>
        </p:spPr>
        <p:txBody>
          <a:bodyPr/>
          <a:lstStyle/>
          <a:p>
            <a:r>
              <a:rPr lang="pt-BR" sz="2000" dirty="0"/>
              <a:t>Obrigado!</a:t>
            </a:r>
          </a:p>
          <a:p>
            <a:r>
              <a:rPr lang="pt-BR" sz="2000" dirty="0" err="1"/>
              <a:t>Thanks</a:t>
            </a:r>
            <a:r>
              <a:rPr lang="pt-BR" sz="2000" dirty="0"/>
              <a:t>!</a:t>
            </a:r>
          </a:p>
          <a:p>
            <a:r>
              <a:rPr lang="pt-BR" altLang="ja-JP" sz="2000" dirty="0" err="1"/>
              <a:t>Xiè</a:t>
            </a:r>
            <a:r>
              <a:rPr lang="pt-BR" altLang="ja-JP" sz="2000" dirty="0"/>
              <a:t> </a:t>
            </a:r>
            <a:r>
              <a:rPr lang="pt-BR" altLang="ja-JP" sz="2000"/>
              <a:t>Xiè </a:t>
            </a:r>
            <a:r>
              <a:rPr lang="pt-BR" altLang="ja-JP" sz="2000" dirty="0"/>
              <a:t>(</a:t>
            </a:r>
            <a:r>
              <a:rPr lang="ja-JP" altLang="pt-BR" sz="2000" dirty="0"/>
              <a:t>谢谢</a:t>
            </a:r>
            <a:r>
              <a:rPr lang="pt-BR" altLang="ja-JP" sz="2000" dirty="0"/>
              <a:t>)</a:t>
            </a:r>
            <a:endParaRPr lang="ja-JP" alt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6555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27644</TotalTime>
  <Words>762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Montserrat</vt:lpstr>
      <vt:lpstr>Calibri</vt:lpstr>
      <vt:lpstr>Montserrat SemiBold</vt:lpstr>
      <vt:lpstr>Arial</vt:lpstr>
      <vt:lpstr>Tema1</vt:lpstr>
      <vt:lpstr>1_Tema1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Michel Pereira</dc:creator>
  <cp:lastModifiedBy>Thiago Chaves Lopes da Silva</cp:lastModifiedBy>
  <cp:revision>49</cp:revision>
  <dcterms:created xsi:type="dcterms:W3CDTF">2021-10-21T17:33:00Z</dcterms:created>
  <dcterms:modified xsi:type="dcterms:W3CDTF">2024-02-08T22:16:10Z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37B5D0982ADB4CD79B25DCF29A4304E5</vt:lpwstr>
  </property>
  <property fmtid="{D5CDD505-2E9C-101B-9397-08002B2CF9AE}" pid="3" name="KSOProductBuildVer">
    <vt:lpwstr>1046-11.2.0.10323</vt:lpwstr>
  </property>
</Properties>
</file>